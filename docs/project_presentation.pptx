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0eb12162974e46" /><Relationship Type="http://schemas.openxmlformats.org/officeDocument/2006/relationships/extended-properties" Target="/docProps/app.xml" Id="R4a6b923da7dd4504" /><Relationship Type="http://schemas.openxmlformats.org/officeDocument/2006/relationships/officeDocument" Target="/ppt/presentation.xml" Id="Re680870816944e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a6322349f849f1"/>
  </p:sldMasterIdLst>
  <p:notesMasterIdLst>
    <p:notesMasterId xmlns:r="http://schemas.openxmlformats.org/officeDocument/2006/relationships" r:id="Rea595bf1550f430e"/>
  </p:notesMasterIdLst>
  <p:sldIdLst>
    <p:sldId xmlns:r="http://schemas.openxmlformats.org/officeDocument/2006/relationships" id="256" r:id="R47d147a4870e4669"/>
    <p:sldId xmlns:r="http://schemas.openxmlformats.org/officeDocument/2006/relationships" id="257" r:id="R5928eab7be6b4afe"/>
    <p:sldId xmlns:r="http://schemas.openxmlformats.org/officeDocument/2006/relationships" id="258" r:id="Rabc9225d971f48a1"/>
    <p:sldId xmlns:r="http://schemas.openxmlformats.org/officeDocument/2006/relationships" id="259" r:id="R7ee87446341e428f"/>
    <p:sldId xmlns:r="http://schemas.openxmlformats.org/officeDocument/2006/relationships" id="260" r:id="R69548d1cd4114273"/>
    <p:sldId xmlns:r="http://schemas.openxmlformats.org/officeDocument/2006/relationships" id="261" r:id="R15e60b403e28419b"/>
    <p:sldId xmlns:r="http://schemas.openxmlformats.org/officeDocument/2006/relationships" id="262" r:id="Ra4fa05e19a9a47c1"/>
    <p:sldId xmlns:r="http://schemas.openxmlformats.org/officeDocument/2006/relationships" id="263" r:id="Rfbd33aae4fef4fe1"/>
    <p:sldId xmlns:r="http://schemas.openxmlformats.org/officeDocument/2006/relationships" id="264" r:id="R5338a06f47b549d2"/>
    <p:sldId xmlns:r="http://schemas.openxmlformats.org/officeDocument/2006/relationships" id="265" r:id="R920cb0f920b347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93f8ce917a404d" /><Relationship Type="http://schemas.openxmlformats.org/officeDocument/2006/relationships/slideMaster" Target="/ppt/slideMasters/slideMaster1.xml" Id="R66a6322349f849f1" /><Relationship Type="http://schemas.openxmlformats.org/officeDocument/2006/relationships/notesMaster" Target="/ppt/notesMasters/notesMaster1.xml" Id="Rea595bf1550f430e" /><Relationship Type="http://schemas.openxmlformats.org/officeDocument/2006/relationships/presProps" Target="/ppt/presProps.xml" Id="R3c1aa1ed1b264882" /><Relationship Type="http://schemas.openxmlformats.org/officeDocument/2006/relationships/tableStyles" Target="/ppt/tableStyles.xml" Id="R56e6b0e5aa054e34" /><Relationship Type="http://schemas.openxmlformats.org/officeDocument/2006/relationships/slide" Target="/ppt/slides/slide1.xml" Id="R47d147a4870e4669" /><Relationship Type="http://schemas.openxmlformats.org/officeDocument/2006/relationships/slide" Target="/ppt/slides/slide2.xml" Id="R5928eab7be6b4afe" /><Relationship Type="http://schemas.openxmlformats.org/officeDocument/2006/relationships/slide" Target="/ppt/slides/slide3.xml" Id="Rabc9225d971f48a1" /><Relationship Type="http://schemas.openxmlformats.org/officeDocument/2006/relationships/slide" Target="/ppt/slides/slide4.xml" Id="R7ee87446341e428f" /><Relationship Type="http://schemas.openxmlformats.org/officeDocument/2006/relationships/slide" Target="/ppt/slides/slide5.xml" Id="R69548d1cd4114273" /><Relationship Type="http://schemas.openxmlformats.org/officeDocument/2006/relationships/slide" Target="/ppt/slides/slide6.xml" Id="R15e60b403e28419b" /><Relationship Type="http://schemas.openxmlformats.org/officeDocument/2006/relationships/slide" Target="/ppt/slides/slide7.xml" Id="Ra4fa05e19a9a47c1" /><Relationship Type="http://schemas.openxmlformats.org/officeDocument/2006/relationships/slide" Target="/ppt/slides/slide8.xml" Id="Rfbd33aae4fef4fe1" /><Relationship Type="http://schemas.openxmlformats.org/officeDocument/2006/relationships/slide" Target="/ppt/slides/slide9.xml" Id="R5338a06f47b549d2" /><Relationship Type="http://schemas.openxmlformats.org/officeDocument/2006/relationships/slide" Target="/ppt/slides/slide10.xml" Id="R920cb0f920b347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f31813928b4f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e5f0d403bc4c7d" /><Relationship Type="http://schemas.openxmlformats.org/officeDocument/2006/relationships/notesMaster" Target="/ppt/notesMasters/notesMaster1.xml" Id="R4ee536b4d73f42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588c8b64e544e4" /><Relationship Type="http://schemas.openxmlformats.org/officeDocument/2006/relationships/notesMaster" Target="/ppt/notesMasters/notesMaster1.xml" Id="Rd550a02b102c4b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ffa1f1f3424f47" /><Relationship Type="http://schemas.openxmlformats.org/officeDocument/2006/relationships/notesMaster" Target="/ppt/notesMasters/notesMaster1.xml" Id="Rad120456214743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5c5fc7f37f4bbd" /><Relationship Type="http://schemas.openxmlformats.org/officeDocument/2006/relationships/notesMaster" Target="/ppt/notesMasters/notesMaster1.xml" Id="Rcb53c0321cc847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d38f5f61214954" /><Relationship Type="http://schemas.openxmlformats.org/officeDocument/2006/relationships/notesMaster" Target="/ppt/notesMasters/notesMaster1.xml" Id="Rd69e5de02a544e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0f3e957b6e4196" /><Relationship Type="http://schemas.openxmlformats.org/officeDocument/2006/relationships/notesMaster" Target="/ppt/notesMasters/notesMaster1.xml" Id="Rbb34e2e97fa74b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71b35486d74f72" /><Relationship Type="http://schemas.openxmlformats.org/officeDocument/2006/relationships/notesMaster" Target="/ppt/notesMasters/notesMaster1.xml" Id="Rb825c908cb1047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6a28cb89d443a9" /><Relationship Type="http://schemas.openxmlformats.org/officeDocument/2006/relationships/notesMaster" Target="/ppt/notesMasters/notesMaster1.xml" Id="Ra93478c20f3b40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09997aebfe4726" /><Relationship Type="http://schemas.openxmlformats.org/officeDocument/2006/relationships/notesMaster" Target="/ppt/notesMasters/notesMaster1.xml" Id="R9673ac0897dd42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0e08fb87854e87" /><Relationship Type="http://schemas.openxmlformats.org/officeDocument/2006/relationships/notesMaster" Target="/ppt/notesMasters/notesMaster1.xml" Id="R9b9a513c2b8c47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presentation summarizes my IN311 project and explains how I would turn the work into a professional portfolio item. The project focuses on forecasting daily NYC 311 telephone demand assigned to the Department of Environmental Protection.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original idea connected forecasting to workforce planning. Dr. Wolfe's feedback helped narrow the claim. With this public dataset, I can forecast phone-request demand, but I cannot prove whether staffing decisions were effective. That would require internal workforce-management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downloaded the official NYC OpenData file, filtered it to 2025, DEP, and PHONE, then grouped the requests into one daily count. This turned a very large transaction-level file into 365 observations that were easier to model and explain.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kept the workflow straightforward so another person could reproduce it. The regression used a chronological split: January 1 through October 19 for training and October 20 through December 31 for testing. K-means used standardized daily volume and a weekend indicator.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regression did better than a simple training-mean baseline. Its mean absolute error was 53.73 requests compared with 73.98 for the baseline. However, the low R-squared and the large October 30 miss show that it is still a basic model. It gives a starting point, not an exact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K-means was useful for describing types of days rather than forecasting a future count. It found weekend days, typical weekdays, and four extreme-volume weekdays. That helped explain why average-error metrics alone do not tell the whole 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results support the thesis in a limited but useful way. Historical patterns can improve a starting forecast. The next version should add more history and outside factors, especially weather. If internal call-center measures become available, the work could then connect demand to staffing decisions more directly.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would make the project easy for someone else to review. The repository would include the cleaned R script, charts, report, and presentation. I would not upload a huge raw dataset. Instead, I would document the official source and the exact filters used so another analyst could reproduce the extract.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public version should demonstrate the analysis without exposing private information. Along with this project, I would add my résumé, a short bio, my professional experience, and future analytics work. That gives employers both technical evidence and the business context behind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sources support the dataset, forecasting approach, workforce-planning context, R environment, and portfolio organization described in the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9e4caa93847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de735dd48041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8b6a52f37c4c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e99c7b510b49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55d3f3f8a44a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e524b4178c4e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161859-4A3F-4D95-9A0A-5D383C8EA9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7F4FE2-5D8F-4E22-BBD7-412E546B67F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71F4443-DF41-4CA8-BAB4-55C63E521F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C36145-7CB4-42CE-8833-8F375BA29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C7B975-6870-4C9B-BCA6-C9E11280FB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A63F23-319C-4072-A763-B1FE3115AE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CAE2AE-4566-4CB4-9546-AD0F977BDA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9A38B0E-67F0-4F15-8879-A996785C3B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D2C4CB-3D3D-46E2-82AD-4F3DE49401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FE0DD1-2087-4317-A828-65D1E294A8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8284e777c14ac8" /><Relationship Type="http://schemas.openxmlformats.org/officeDocument/2006/relationships/slideLayout" Target="/ppt/slideLayouts/slideLayout1.xml" Id="R8fdca29532f74506" /><Relationship Type="http://schemas.openxmlformats.org/officeDocument/2006/relationships/slideLayout" Target="/ppt/slideLayouts/slideLayout2.xml" Id="Rd0f89da7e2b643e5" /><Relationship Type="http://schemas.openxmlformats.org/officeDocument/2006/relationships/slideLayout" Target="/ppt/slideLayouts/slideLayout3.xml" Id="Ra7ba9392f41a4e05" /><Relationship Type="http://schemas.openxmlformats.org/officeDocument/2006/relationships/slideLayout" Target="/ppt/slideLayouts/slideLayout4.xml" Id="Rf284763312a447af" /><Relationship Type="http://schemas.openxmlformats.org/officeDocument/2006/relationships/slideLayout" Target="/ppt/slideLayouts/slideLayout5.xml" Id="Rba55fa3c0ad04066" /><Relationship Type="http://schemas.openxmlformats.org/officeDocument/2006/relationships/slideLayout" Target="/ppt/slideLayouts/slideLayout6.xml" Id="Reaac3f4b94af43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dca29532f74506"/>
    <p:sldLayoutId xmlns:r="http://schemas.openxmlformats.org/officeDocument/2006/relationships" id="2147483650" r:id="Rd0f89da7e2b643e5"/>
    <p:sldLayoutId xmlns:r="http://schemas.openxmlformats.org/officeDocument/2006/relationships" id="2147483651" r:id="Ra7ba9392f41a4e05"/>
    <p:sldLayoutId xmlns:r="http://schemas.openxmlformats.org/officeDocument/2006/relationships" id="2147483652" r:id="Rf284763312a447af"/>
    <p:sldLayoutId xmlns:r="http://schemas.openxmlformats.org/officeDocument/2006/relationships" id="2147483653" r:id="Rba55fa3c0ad04066"/>
    <p:sldLayoutId xmlns:r="http://schemas.openxmlformats.org/officeDocument/2006/relationships" id="2147483654" r:id="Reaac3f4b94af43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f328e24fdf4b11" /><Relationship Type="http://schemas.openxmlformats.org/officeDocument/2006/relationships/image" Target="/ppt/media/image.png" Id="Rae400a81f27a414c" /><Relationship Type="http://schemas.openxmlformats.org/officeDocument/2006/relationships/notesSlide" Target="/ppt/notesSlides/notesSlide1.xml" Id="Re17a750cd4d24c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cb1626b556468c" /><Relationship Type="http://schemas.openxmlformats.org/officeDocument/2006/relationships/notesSlide" Target="/ppt/notesSlides/notesSlide2.xml" Id="Rc2afc98cf4e142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b65badb50946a7" /><Relationship Type="http://schemas.openxmlformats.org/officeDocument/2006/relationships/notesSlide" Target="/ppt/notesSlides/notesSlide3.xml" Id="R7783e1882ee546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a532d0ddf74452" /><Relationship Type="http://schemas.openxmlformats.org/officeDocument/2006/relationships/notesSlide" Target="/ppt/notesSlides/notesSlide4.xml" Id="R6a5b4b31a2884e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2168a9db2e4e5c" /><Relationship Type="http://schemas.openxmlformats.org/officeDocument/2006/relationships/image" Target="/ppt/media/image2.png" Id="Rbc09b41453624078" /><Relationship Type="http://schemas.openxmlformats.org/officeDocument/2006/relationships/notesSlide" Target="/ppt/notesSlides/notesSlide5.xml" Id="R2647e11ec44746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a54a031cae4758" /><Relationship Type="http://schemas.openxmlformats.org/officeDocument/2006/relationships/image" Target="/ppt/media/image3.png" Id="R3b10d53627074cfa" /><Relationship Type="http://schemas.openxmlformats.org/officeDocument/2006/relationships/chart" Target="/ppt/slides/charts/chart1.xml" Id="R65ebbc06e095409a" /><Relationship Type="http://schemas.openxmlformats.org/officeDocument/2006/relationships/notesSlide" Target="/ppt/notesSlides/notesSlide6.xml" Id="Re397b0e0357c49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7af593422e4131" /><Relationship Type="http://schemas.openxmlformats.org/officeDocument/2006/relationships/notesSlide" Target="/ppt/notesSlides/notesSlide7.xml" Id="R330f682917da4d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f108b1ac234005" /><Relationship Type="http://schemas.openxmlformats.org/officeDocument/2006/relationships/notesSlide" Target="/ppt/notesSlides/notesSlide8.xml" Id="R5486b87f3cbc48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549b06827444bc" /><Relationship Type="http://schemas.openxmlformats.org/officeDocument/2006/relationships/notesSlide" Target="/ppt/notesSlides/notesSlide9.xml" Id="Rf40ffa9bf2514e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fa97b1ec3c4f01" /><Relationship Type="http://schemas.openxmlformats.org/officeDocument/2006/relationships/notesSlide" Target="/ppt/notesSlides/notesSlide10.xml" Id="Rfd18ad982fd54d8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B1F33"/>
                </a:solidFill>
              </a:rPr>
              <a:t>Average requests by cluster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0B1F33"/>
              </a:solidFill>
            </a:defRPr>
          </a:pPr>
        </a:p>
      </c:txPr>
    </c:title>
    <c:plotArea>
      <c:barChart>
        <c:barDir val="col"/>
        <c:grouping val="clustered"/>
        <c:varyColors val="1"/>
        <c:ser>
          <c:idx val="0"/>
          <c:order val="0"/>
          <c:tx>
            <c:v>Average requests</c:v>
          </c:tx>
          <c:spPr>
            <a:solidFill xmlns:a="http://schemas.openxmlformats.org/drawingml/2006/main">
              <a:srgbClr val="177E89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Weekend
104 days</c:v>
                </c:pt>
                <c:pt idx="1">
                  <c:v>Typical weekday
257 days</c:v>
                </c:pt>
                <c:pt idx="2">
                  <c:v>Extreme weekday
4 days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141.2</c:v>
                </c:pt>
                <c:pt idx="1">
                  <c:v>228.59</c:v>
                </c:pt>
                <c:pt idx="2">
                  <c:v>1194.5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B1F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6EDF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A79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3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A79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AB157-0320-484F-A33D-E77412E986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00a81f27a414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364DC-AC2F-4E72-8534-3DE5FFCC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6">
              <a:alpha val="85098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1381748B-B2CA-4373-9ECE-B1BF49EA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2A23A"/>
                </a:solidFill>
                <a:latin typeface="Aptos"/>
                <a:ea typeface="Aptos"/>
                <a:cs typeface="Aptos"/>
              </a:rPr>
              <a:t>IN311 · UNIT 10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25487365-328E-4A05-BAA7-35B029A0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lnSpc>
                <a:spcPct val="95000"/>
              </a:lnSpc>
              <a:buNone/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Predictive Analytics for NYC 311 Telephone Demand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F0B3A80-ED7E-45AA-B8A4-6A603F95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>
                <a:solidFill>
                  <a:srgbClr val="F6F2EA"/>
                </a:solidFill>
                <a:latin typeface="Aptos"/>
                <a:ea typeface="Aptos"/>
                <a:cs typeface="Aptos"/>
              </a:defRPr>
            </a:defPPr>
            <a:lvl1pPr>
              <a:defRPr sz="1725">
                <a:solidFill>
                  <a:srgbClr val="F6F2EA"/>
                </a:solidFill>
                <a:latin typeface="Aptos"/>
                <a:ea typeface="Aptos"/>
                <a:cs typeface="Aptos"/>
              </a:defRPr>
            </a:lvl1pPr>
            <a:lvl2pPr>
              <a:defRPr sz="1725">
                <a:solidFill>
                  <a:srgbClr val="F6F2EA"/>
                </a:solidFill>
                <a:latin typeface="Aptos"/>
                <a:ea typeface="Aptos"/>
                <a:cs typeface="Aptos"/>
              </a:defRPr>
            </a:lvl2pPr>
            <a:lvl3pPr>
              <a:defRPr sz="1725">
                <a:solidFill>
                  <a:srgbClr val="F6F2EA"/>
                </a:solidFill>
                <a:latin typeface="Aptos"/>
                <a:ea typeface="Aptos"/>
                <a:cs typeface="Aptos"/>
              </a:defRPr>
            </a:lvl3pPr>
            <a:lvl4pPr>
              <a:defRPr sz="1725">
                <a:solidFill>
                  <a:srgbClr val="F6F2EA"/>
                </a:solidFill>
                <a:latin typeface="Aptos"/>
                <a:ea typeface="Aptos"/>
                <a:cs typeface="Aptos"/>
              </a:defRPr>
            </a:lvl4pPr>
            <a:lvl5pPr>
              <a:defRPr sz="1725">
                <a:solidFill>
                  <a:srgbClr val="F6F2EA"/>
                </a:solidFill>
                <a:latin typeface="Aptos"/>
                <a:ea typeface="Aptos"/>
                <a:cs typeface="Aptos"/>
              </a:defRPr>
            </a:lvl5pPr>
            <a:lvl6pPr>
              <a:defRPr sz="1725">
                <a:solidFill>
                  <a:srgbClr val="F6F2EA"/>
                </a:solidFill>
                <a:latin typeface="Aptos"/>
                <a:ea typeface="Aptos"/>
                <a:cs typeface="Aptos"/>
              </a:defRPr>
            </a:lvl6pPr>
            <a:lvl7pPr>
              <a:defRPr sz="1725">
                <a:solidFill>
                  <a:srgbClr val="F6F2EA"/>
                </a:solidFill>
                <a:latin typeface="Aptos"/>
                <a:ea typeface="Aptos"/>
                <a:cs typeface="Aptos"/>
              </a:defRPr>
            </a:lvl7pPr>
            <a:lvl8pPr>
              <a:defRPr sz="1725">
                <a:solidFill>
                  <a:srgbClr val="F6F2EA"/>
                </a:solidFill>
                <a:latin typeface="Aptos"/>
                <a:ea typeface="Aptos"/>
                <a:cs typeface="Aptos"/>
              </a:defRPr>
            </a:lvl8pPr>
            <a:lvl9pPr>
              <a:defRPr sz="1725">
                <a:solidFill>
                  <a:srgbClr val="F6F2E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>
                <a:solidFill>
                  <a:srgbClr val="F6F2E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F6F2EA"/>
                </a:solidFill>
                <a:latin typeface="Aptos"/>
                <a:ea typeface="Aptos"/>
                <a:cs typeface="Aptos"/>
              </a:rPr>
              <a:t>Forecasting daily DEP phone requests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A8E3F-F8AE-4B57-8F36-B35924E9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2A23A"/>
            </a:solidFill>
            <a:prstDash val="solid"/>
          </a:ln>
        </p:spPr>
      </p:sp>
      <p:sp>
        <p:nvSpPr>
          <p:cNvPr id="7" name="author">
            <a:extLst xmlns:a="http://schemas.openxmlformats.org/drawingml/2006/main">
              <a:ext uri="{FF2B5EF4-FFF2-40B4-BE49-F238E27FC236}">
                <a16:creationId xmlns:a16="http://schemas.microsoft.com/office/drawing/2014/main" id="{E68F42D6-768F-4843-ADAF-A5A44B5E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FFFFF"/>
                </a:solidFill>
                <a:latin typeface="Aptos"/>
                <a:ea typeface="Aptos"/>
                <a:cs typeface="Aptos"/>
              </a:rPr>
              <a:t>Trevor Cudmore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FFFFF"/>
                </a:solidFill>
                <a:latin typeface="Aptos"/>
                <a:ea typeface="Aptos"/>
                <a:cs typeface="Aptos"/>
              </a:rPr>
              <a:t>Purdue University Global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27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FFFFFF"/>
                </a:solidFill>
                <a:latin typeface="Aptos"/>
                <a:ea typeface="Aptos"/>
                <a:cs typeface="Aptos"/>
              </a:rPr>
              <a:t>Dr. Todd Wolfe · November 3, 2026</a:t>
            </a:r>
          </a:p>
        </p:txBody>
      </p:sp>
    </p:spTree>
    <p:extLst>
      <p:ext uri="{BB962C8B-B14F-4D97-AF65-F5344CB8AC3E}">
        <p14:creationId xmlns:p14="http://schemas.microsoft.com/office/powerpoint/2010/main" val="14306163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C748BE2-660A-4F52-A61C-87CF617A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ANALYTICAL THESIS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034E8A-9E3E-498C-88C6-4F54533B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The goal is to estimate demand before the day begins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1AA9AA-1D1C-4254-B002-6EFDD203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EB389-8E3E-42EE-8A92-33E28D6A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7000875" cy="18478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5" name="thesis">
            <a:extLst xmlns:a="http://schemas.openxmlformats.org/drawingml/2006/main">
              <a:ext uri="{FF2B5EF4-FFF2-40B4-BE49-F238E27FC236}">
                <a16:creationId xmlns:a16="http://schemas.microsoft.com/office/drawing/2014/main" id="{CF7FB3A3-659F-444E-AB5A-2C143878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628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9509"/>
          </a:bodyPr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lnSpc>
                <a:spcPct val="103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Historical 311 phone-request patterns can provide a useful forecast of daily DEP demand and give managers a better starting point for planning workload.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2AEDE-85A3-416C-90E6-FE5E9EB9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3FEF4-BE3B-4AA6-879B-AE9393F1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333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defPPr>
            <a:lvl1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1pPr>
            <a:lvl2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2pPr>
            <a:lvl3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3pPr>
            <a:lvl4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4pPr>
            <a:lvl5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5pPr>
            <a:lvl6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6pPr>
            <a:lvl7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7pPr>
            <a:lvl8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8pPr>
            <a:lvl9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32238"/>
                </a:solidFill>
                <a:latin typeface="Aptos"/>
                <a:ea typeface="Aptos"/>
                <a:cs typeface="Aptos"/>
              </a:rPr>
              <a:t>• Demand changes by weekday, season, and unexpected events.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32238"/>
                </a:solidFill>
                <a:latin typeface="Aptos"/>
                <a:ea typeface="Aptos"/>
                <a:cs typeface="Aptos"/>
              </a:rPr>
              <a:t>• Managers have to plan before the actual volume is known.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32238"/>
                </a:solidFill>
                <a:latin typeface="Aptos"/>
                <a:ea typeface="Aptos"/>
                <a:cs typeface="Aptos"/>
              </a:rPr>
              <a:t>• A forecast can reduce guesswork, even when it is not perfect.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17BDF-C8D7-479B-9278-5B191247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107823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1E9CB-0A55-4D09-B780-77F706A1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534B"/>
                </a:solidFill>
                <a:latin typeface="Aptos"/>
                <a:ea typeface="Aptos"/>
                <a:cs typeface="Aptos"/>
              </a:rPr>
              <a:t>Important limit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84566-61C0-40CC-82E8-CB7A083C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767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defPPr>
            <a:lvl1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1pPr>
            <a:lvl2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2pPr>
            <a:lvl3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3pPr>
            <a:lvl4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4pPr>
            <a:lvl5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5pPr>
            <a:lvl6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6pPr>
            <a:lvl7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7pPr>
            <a:lvl8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8pPr>
            <a:lvl9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32238"/>
                </a:solidFill>
                <a:latin typeface="Aptos"/>
                <a:ea typeface="Aptos"/>
                <a:cs typeface="Aptos"/>
              </a:rPr>
              <a:t>This project forecasts contact demand. It does not measure staffing effectiveness because the public dataset does not include staffing, handle time, wait time, service level, or abandonment data.</a:t>
            </a:r>
          </a:p>
        </p:txBody>
      </p:sp>
      <p:sp>
        <p:nvSpPr>
          <p:cNvPr id="11" name="source">
            <a:extLst xmlns:a="http://schemas.openxmlformats.org/drawingml/2006/main">
              <a:ext uri="{FF2B5EF4-FFF2-40B4-BE49-F238E27FC236}">
                <a16:creationId xmlns:a16="http://schemas.microsoft.com/office/drawing/2014/main" id="{DC226F56-6645-41B9-BABA-58A642C4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defPPr>
            <a:lvl1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1pPr>
            <a:lvl2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2pPr>
            <a:lvl3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3pPr>
            <a:lvl4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4pPr>
            <a:lvl5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5pPr>
            <a:lvl6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6pPr>
            <a:lvl7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7pPr>
            <a:lvl8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8pPr>
            <a:lvl9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96A79"/>
                </a:solidFill>
                <a:latin typeface="Aptos"/>
                <a:ea typeface="Aptos"/>
                <a:cs typeface="Aptos"/>
              </a:rPr>
              <a:t>Project scope based on NYC OpenData fields and instructor feedback.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0F8CD4B-0453-4A85-BE02-16F67D97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103294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574E732-75B7-47BE-AF35-118F54F3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DATA AND SCOPE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DC1251-60B7-4585-A7A2-6BC4D7D4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 focused slice of official 311 data kept the project manageable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8A962-A540-45EA-BC2C-36BDDD8D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9C06F-B8FE-4F78-AD8B-C35901D6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219075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58449-4875-4AE9-B59C-B17C1ADB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solidFill>
              <a:srgbClr val="177E8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21201-4A5F-4B28-B840-656772F3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78,211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2B685-492E-4830-97BF-8C624E1D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defPPr>
            <a:lvl1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1pPr>
            <a:lvl2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2pPr>
            <a:lvl3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3pPr>
            <a:lvl4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4pPr>
            <a:lvl5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5pPr>
            <a:lvl6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6pPr>
            <a:lvl7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7pPr>
            <a:lvl8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8pPr>
            <a:lvl9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96A79"/>
                </a:solidFill>
                <a:latin typeface="Aptos"/>
                <a:ea typeface="Aptos"/>
                <a:cs typeface="Aptos"/>
              </a:rPr>
              <a:t>DEP phone requests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960E0-9805-49A5-B288-ACE10A64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543050"/>
            <a:ext cx="219075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FCECE5-DDEE-455C-BDAD-B43C9C82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54305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A23A"/>
          </a:solidFill>
          <a:ln xmlns:a="http://schemas.openxmlformats.org/drawingml/2006/main" w="0">
            <a:solidFill>
              <a:srgbClr val="E2A2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85863-E0FD-49BC-8CB1-C31529CD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145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365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34A07-7971-4B90-9D7F-346F19DF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336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defPPr>
            <a:lvl1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1pPr>
            <a:lvl2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2pPr>
            <a:lvl3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3pPr>
            <a:lvl4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4pPr>
            <a:lvl5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5pPr>
            <a:lvl6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6pPr>
            <a:lvl7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7pPr>
            <a:lvl8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8pPr>
            <a:lvl9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96A79"/>
                </a:solidFill>
                <a:latin typeface="Aptos"/>
                <a:ea typeface="Aptos"/>
                <a:cs typeface="Aptos"/>
              </a:rPr>
              <a:t>daily observations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B572C-F35B-4448-8939-2566D243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543050"/>
            <a:ext cx="219075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20424-9119-4366-A2D3-96EFBA63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54305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A6A8"/>
          </a:solidFill>
          <a:ln xmlns:a="http://schemas.openxmlformats.org/drawingml/2006/main" w="0">
            <a:solidFill>
              <a:srgbClr val="55A6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FBE48-AC40-4B75-9351-FFE49183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145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214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275D9-EB97-46BC-B08F-E64E7F93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336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defPPr>
            <a:lvl1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1pPr>
            <a:lvl2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2pPr>
            <a:lvl3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3pPr>
            <a:lvl4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4pPr>
            <a:lvl5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5pPr>
            <a:lvl6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6pPr>
            <a:lvl7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7pPr>
            <a:lvl8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8pPr>
            <a:lvl9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96A79"/>
                </a:solidFill>
                <a:latin typeface="Aptos"/>
                <a:ea typeface="Aptos"/>
                <a:cs typeface="Aptos"/>
              </a:rPr>
              <a:t>average requests per day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ACEB1-DF7C-4FCA-AFBF-715D49A1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43050"/>
            <a:ext cx="219075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D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EB85C-4C07-4F4D-A76D-39572332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4305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4B"/>
          </a:solidFill>
          <a:ln xmlns:a="http://schemas.openxmlformats.org/drawingml/2006/main" w="0">
            <a:solidFill>
              <a:srgbClr val="B453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E5F38-6327-4586-9FB0-FEF2B023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14500"/>
            <a:ext cx="176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1,462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9F826-C959-4BF6-A4DC-6D115439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3360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defPPr>
            <a:lvl1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1pPr>
            <a:lvl2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2pPr>
            <a:lvl3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3pPr>
            <a:lvl4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4pPr>
            <a:lvl5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5pPr>
            <a:lvl6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6pPr>
            <a:lvl7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7pPr>
            <a:lvl8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8pPr>
            <a:lvl9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96A79"/>
                </a:solidFill>
                <a:latin typeface="Aptos"/>
                <a:ea typeface="Aptos"/>
                <a:cs typeface="Aptos"/>
              </a:rPr>
              <a:t>highest daily volume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0F7529-D311-4F0A-84E1-E74BB191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How the file was narrowed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DB4571-6746-4886-830F-054DBAC8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5286375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defPPr>
            <a:lvl1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1pPr>
            <a:lvl2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2pPr>
            <a:lvl3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3pPr>
            <a:lvl4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4pPr>
            <a:lvl5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5pPr>
            <a:lvl6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6pPr>
            <a:lvl7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7pPr>
            <a:lvl8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8pPr>
            <a:lvl9pPr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32238"/>
                </a:solidFill>
                <a:latin typeface="Aptos"/>
                <a:ea typeface="Aptos"/>
                <a:cs typeface="Aptos"/>
              </a:rPr>
              <a:t>• Source: NYC 311 Service Requests from 2020 to Present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32238"/>
                </a:solidFill>
                <a:latin typeface="Aptos"/>
                <a:ea typeface="Aptos"/>
                <a:cs typeface="Aptos"/>
              </a:rPr>
              <a:t>• Calendar year: 2025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32238"/>
                </a:solidFill>
                <a:latin typeface="Aptos"/>
                <a:ea typeface="Aptos"/>
                <a:cs typeface="Aptos"/>
              </a:rPr>
              <a:t>• Agency: Department of Environmental Protection (DEP)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32238"/>
                </a:solidFill>
                <a:latin typeface="Aptos"/>
                <a:ea typeface="Aptos"/>
                <a:cs typeface="Aptos"/>
              </a:rPr>
              <a:t>• Channel: PHONE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32238"/>
                </a:solidFill>
                <a:latin typeface="Aptos"/>
                <a:ea typeface="Aptos"/>
                <a:cs typeface="Aptos"/>
              </a:rPr>
              <a:t>• Final structure: one row per date with the daily request count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39113-9CE1-4A8A-A2A0-ABA42DBF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4953000" cy="224790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E6ED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54F587-80C2-4104-82F2-20AC95B2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766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Why this dataset worked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FE6DA5-703A-4083-99FA-E2D814C5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814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defPPr>
            <a:lvl1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1pPr>
            <a:lvl2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2pPr>
            <a:lvl3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3pPr>
            <a:lvl4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4pPr>
            <a:lvl5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5pPr>
            <a:lvl6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6pPr>
            <a:lvl7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7pPr>
            <a:lvl8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8pPr>
            <a:lvl9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32238"/>
                </a:solidFill>
                <a:latin typeface="Aptos"/>
                <a:ea typeface="Aptos"/>
                <a:cs typeface="Aptos"/>
              </a:rPr>
              <a:t>It is credible, large enough to show repeated patterns, and includes exact creation dates and channel information. Those fields directly support a daily demand forecast.</a:t>
            </a:r>
          </a:p>
        </p:txBody>
      </p:sp>
      <p:sp>
        <p:nvSpPr>
          <p:cNvPr id="25" name="source">
            <a:extLst xmlns:a="http://schemas.openxmlformats.org/drawingml/2006/main">
              <a:ext uri="{FF2B5EF4-FFF2-40B4-BE49-F238E27FC236}">
                <a16:creationId xmlns:a16="http://schemas.microsoft.com/office/drawing/2014/main" id="{84213844-B398-4BD6-BFD3-A709C2A6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defPPr>
            <a:lvl1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1pPr>
            <a:lvl2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2pPr>
            <a:lvl3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3pPr>
            <a:lvl4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4pPr>
            <a:lvl5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5pPr>
            <a:lvl6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6pPr>
            <a:lvl7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7pPr>
            <a:lvl8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8pPr>
            <a:lvl9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96A79"/>
                </a:solidFill>
                <a:latin typeface="Aptos"/>
                <a:ea typeface="Aptos"/>
                <a:cs typeface="Aptos"/>
              </a:rPr>
              <a:t>Source: NYC OpenData, 311 Service Requests from 2020 to Present.</a:t>
            </a:r>
          </a:p>
        </p:txBody>
      </p:sp>
      <p:sp>
        <p:nvSpPr>
          <p:cNvPr id="2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D2D1F60-F5B3-4CDF-AD53-F1AA66A2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718626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691933B-D544-40F1-90A1-D8B12712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STEPS TAKEN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AA224E-0B9F-46E2-9B98-009FB323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The analysis followed a simple, repeatable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4F272-909D-4C7F-933D-5CD6E81E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A44A2-2E9E-45F5-A2AE-9BA7C068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DADA6-EF9F-468A-831A-8A25FDCF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954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1D589-D01F-44F3-B768-A3C06843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Filter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7D6DE-8AFE-4BC2-99FF-93BFE366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96A79"/>
                </a:solidFill>
                <a:latin typeface="Aptos"/>
                <a:ea typeface="Aptos"/>
                <a:cs typeface="Aptos"/>
              </a:rPr>
              <a:t>Keep 2025 DEP phone requests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E070A-FFAB-4EA1-8C01-4AFE0855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66925"/>
            <a:ext cx="128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E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15F67-CC32-4333-B1AE-2D2DCDD7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716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656A9-F1B0-4AD2-B960-2644C6B6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954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C6D359-49D4-4B3A-ADB8-06B8C83C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193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9B7745-41C5-495C-AE4D-BB6AAF92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28950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96A79"/>
                </a:solidFill>
                <a:latin typeface="Aptos"/>
                <a:ea typeface="Aptos"/>
                <a:cs typeface="Aptos"/>
              </a:rPr>
              <a:t>Clean dates and total requests by 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7C242-3FF8-449E-B470-7BBEA8FA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66925"/>
            <a:ext cx="128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E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DC829-6F67-4DB1-9B7F-51BE4811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716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F5F74-01BF-4AEA-BFAA-B0E5510F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954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FEE10A-7A36-45E3-83F3-687FB351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193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Engineer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1D2681-4994-4FFB-9E16-D26BE588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28950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96A79"/>
                </a:solidFill>
                <a:latin typeface="Aptos"/>
                <a:ea typeface="Aptos"/>
                <a:cs typeface="Aptos"/>
              </a:rPr>
              <a:t>Create weekday, weekend, and seasonal fields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4BA55-6AB5-469B-8EB7-4286EBDA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66925"/>
            <a:ext cx="128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ED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81A3C-3360-4FEE-979E-29B7D9AC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716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50CF9-AD77-4234-B0B5-600CDE98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954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D7026C-8D2A-45FD-AC63-1B2F6C76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193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1A0CF6-6ABD-4121-94AB-17B98B3F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28950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96A79"/>
                </a:solidFill>
                <a:latin typeface="Aptos"/>
                <a:ea typeface="Aptos"/>
                <a:cs typeface="Aptos"/>
              </a:rPr>
              <a:t>Fit regression and k-means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7942E3-D17C-4E5B-8224-A0F830CF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66925"/>
            <a:ext cx="128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6ED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98C2F5-CE0D-4535-82A8-376F1AD3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7716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A2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4AD0F1-1886-43B9-BBE6-928CD3CB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954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03C040-4D55-4D85-A493-BCF06F64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193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984777-AEAC-4C27-87C3-67471323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28950"/>
            <a:ext cx="180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96A79"/>
                </a:solidFill>
                <a:latin typeface="Aptos"/>
                <a:ea typeface="Aptos"/>
                <a:cs typeface="Aptos"/>
              </a:rPr>
              <a:t>Compare test errors, residuals, and clusters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E303A2-FD63-46A5-988A-6A6CE1C3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57700"/>
            <a:ext cx="107823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D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B72DFC-2CB4-40F1-BA5A-EA0579FE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958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Development environment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ED0685-51D8-42C0-A976-56204EA9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958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96A79"/>
                </a:solidFill>
                <a:latin typeface="Aptos"/>
                <a:ea typeface="Aptos"/>
                <a:cs typeface="Aptos"/>
              </a:rPr>
              <a:t>ASUS VivoBook · Windows 11 · R 4.5.1 in RGui · tidyverse 2.0.0 · lubridate 1.9.5 · ggplot2 4.0.3</a:t>
            </a:r>
          </a:p>
        </p:txBody>
      </p:sp>
      <p:sp>
        <p:nvSpPr>
          <p:cNvPr id="3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8E821DC-EB1F-41C5-8C5E-525703CE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166572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ED15107-BF11-4BA2-A56B-A563A525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MODEL RESULTS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89B310-93BC-4422-84ED-43F4EC88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Regression beat the basic baseline, but unusual days still mattered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07C72A-B331-4AFC-985D-9201A6DF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2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8C21F-5B94-4EF3-9B8E-FBAC1850F5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9b41453624078"/>
          <a:stretch xmlns:a="http://schemas.openxmlformats.org/drawingml/2006/main"/>
        </p:blipFill>
        <p:spPr>
          <a:xfrm xmlns:a="http://schemas.openxmlformats.org/drawingml/2006/main">
            <a:off x="495300" y="1728630"/>
            <a:ext cx="6953250" cy="359123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7A946-E1D1-4B7B-856B-F5185D1F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621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Test-period performance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3518B-CC48-4865-9C5B-02698628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574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MAE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8EF34-D88D-4B60-925C-F27F7A83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002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53.73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652C6A-2FA8-4BF1-8EB2-73C42FD9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57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defPPr>
            <a:lvl1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1pPr>
            <a:lvl2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2pPr>
            <a:lvl3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3pPr>
            <a:lvl4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4pPr>
            <a:lvl5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5pPr>
            <a:lvl6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6pPr>
            <a:lvl7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7pPr>
            <a:lvl8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8pPr>
            <a:lvl9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96A79"/>
                </a:solidFill>
                <a:latin typeface="Aptos"/>
                <a:ea typeface="Aptos"/>
                <a:cs typeface="Aptos"/>
              </a:rPr>
              <a:t>Baseline 73.98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0109A-DA81-49C0-A0FF-08F40E27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860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84B10-7DC4-4B89-8201-E1BBBED3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RMSE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67F6F-4375-43C1-AC5E-1B77F15F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765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135.44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6DD80-D70D-437E-9CCA-E9F6E021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33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defPPr>
            <a:lvl1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1pPr>
            <a:lvl2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2pPr>
            <a:lvl3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3pPr>
            <a:lvl4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4pPr>
            <a:lvl5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5pPr>
            <a:lvl6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6pPr>
            <a:lvl7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7pPr>
            <a:lvl8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8pPr>
            <a:lvl9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96A79"/>
                </a:solidFill>
                <a:latin typeface="Aptos"/>
                <a:ea typeface="Aptos"/>
                <a:cs typeface="Aptos"/>
              </a:rPr>
              <a:t>Baseline 145.46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84DFA-020A-424E-BED4-2B4E175A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623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D87BD-8653-4F8B-8999-C3B047C8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100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R²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A0FE1-5FC4-49C6-8597-ECC088B0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528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0.114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3D81C-D853-4C0D-B190-55DD5768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10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defPPr>
            <a:lvl1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1pPr>
            <a:lvl2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2pPr>
            <a:lvl3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3pPr>
            <a:lvl4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4pPr>
            <a:lvl5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5pPr>
            <a:lvl6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6pPr>
            <a:lvl7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7pPr>
            <a:lvl8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8pPr>
            <a:lvl9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>
                <a:solidFill>
                  <a:srgbClr val="596A79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96A79"/>
                </a:solidFill>
                <a:latin typeface="Aptos"/>
                <a:ea typeface="Aptos"/>
                <a:cs typeface="Aptos"/>
              </a:rPr>
              <a:t>Modest explanatory power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9977F-F143-4D30-812A-6F571B39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386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411DA-3BFB-4FDF-B3B7-F7330BF9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00600"/>
            <a:ext cx="361950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E6ED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9C73DE-B920-43DD-87B9-D3E95008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10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Bottom 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B08EF2-4728-419C-B0E0-DD4E3130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959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00">
                <a:solidFill>
                  <a:srgbClr val="132238"/>
                </a:solidFill>
                <a:latin typeface="Aptos"/>
                <a:ea typeface="Aptos"/>
                <a:cs typeface="Aptos"/>
              </a:defRPr>
            </a:defPPr>
            <a:lvl1pPr>
              <a:defRPr sz="12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1pPr>
            <a:lvl2pPr>
              <a:defRPr sz="12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2pPr>
            <a:lvl3pPr>
              <a:defRPr sz="12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3pPr>
            <a:lvl4pPr>
              <a:defRPr sz="12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4pPr>
            <a:lvl5pPr>
              <a:defRPr sz="12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5pPr>
            <a:lvl6pPr>
              <a:defRPr sz="12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6pPr>
            <a:lvl7pPr>
              <a:defRPr sz="12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7pPr>
            <a:lvl8pPr>
              <a:defRPr sz="12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8pPr>
            <a:lvl9pPr>
              <a:defRPr sz="12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132238"/>
                </a:solidFill>
                <a:latin typeface="Aptos"/>
                <a:ea typeface="Aptos"/>
                <a:cs typeface="Aptos"/>
              </a:rPr>
              <a:t>The model improved MAE by 27.4%, but it missed the October 30 spike.</a:t>
            </a:r>
          </a:p>
        </p:txBody>
      </p:sp>
      <p:sp>
        <p:nvSpPr>
          <p:cNvPr id="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D9C4A3B-2EFF-4AC0-A072-189FA446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901523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3FB7231-9C35-45EC-AE63-44D1BC5C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MODEL RESULTS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F8A4F4-C5C9-439D-AD3B-8F100886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K-means found three distinct types of demand days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E9762-85D3-4EF7-94C2-2E14843C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2"/>
            </a:solidFill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BA0F9-F8A3-46BC-ADAB-8C54BD45FA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0d53627074cfa"/>
          <a:stretch xmlns:a="http://schemas.openxmlformats.org/drawingml/2006/main"/>
        </p:blipFill>
        <p:spPr>
          <a:xfrm xmlns:a="http://schemas.openxmlformats.org/drawingml/2006/main">
            <a:off x="457200" y="1906361"/>
            <a:ext cx="6191250" cy="3197679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875C7DA-8E2E-48A0-A9F7-A1F2080A91B5}"/>
              </a:ext>
            </a:extLst>
          </p:cNvPr>
          <p:cNvGraphicFramePr/>
          <p:nvPr/>
        </p:nvGraphicFramePr>
        <p:xfrm>
          <a:off xmlns:a="http://schemas.openxmlformats.org/drawingml/2006/main" x="6858000" y="1657350"/>
          <a:ext xmlns:a="http://schemas.openxmlformats.org/drawingml/2006/main" cx="4572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ebbc06e095409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01D0C-8AEC-4556-976C-AE12B140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1244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defPPr>
            <a:lvl1pPr algn="ctr">
              <a:defRPr sz="127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1pPr>
            <a:lvl2pPr algn="ctr">
              <a:defRPr sz="127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2pPr>
            <a:lvl3pPr algn="ctr">
              <a:defRPr sz="127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3pPr>
            <a:lvl4pPr algn="ctr">
              <a:defRPr sz="127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4pPr>
            <a:lvl5pPr algn="ctr">
              <a:defRPr sz="127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5pPr>
            <a:lvl6pPr algn="ctr">
              <a:defRPr sz="127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6pPr>
            <a:lvl7pPr algn="ctr">
              <a:defRPr sz="127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7pPr>
            <a:lvl8pPr algn="ctr">
              <a:defRPr sz="127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8pPr>
            <a:lvl9pPr algn="ctr">
              <a:defRPr sz="127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4534B"/>
                </a:solidFill>
                <a:latin typeface="Aptos"/>
                <a:ea typeface="Aptos"/>
                <a:cs typeface="Aptos"/>
              </a:rPr>
              <a:t>The four extreme weekdays were June 23–25 and October 30.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3235D62-8D12-4FFC-9688-FED89CA5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33246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E3F5DA5-AADC-4B57-BAE8-F6C2F294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CONCLUSION AND RECOMMENDATION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D1D27A-DCCC-46DA-AAD4-186551E5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Use regression as a starting forecast, then improve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7863F-D9B9-4CD0-A689-517FC2D8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4284F-57C3-4834-8C03-FA7175EB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81150"/>
            <a:ext cx="49530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CBAF1-C8EA-46F6-B879-6810D566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431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E2A2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2A23A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4E216-C1F5-4AED-AD54-BD4C64EA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41719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lnSpc>
                <a:spcPct val="106000"/>
              </a:lnSpc>
              <a:buNone/>
              <a:defRPr sz="1725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FFFFFF"/>
                </a:solidFill>
                <a:latin typeface="Aptos"/>
                <a:ea typeface="Aptos"/>
                <a:cs typeface="Aptos"/>
              </a:rPr>
              <a:t>Linear regression is the better primary model because it produces a daily forecast and beat the baseline. K-means is still useful because it shows the difference between routine and extreme demand days.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35063B-5B70-4EAA-A682-A2BE3F4D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563DC-1281-463D-BFD8-966BA1A6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90750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defPPr>
            <a:lvl1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1pPr>
            <a:lvl2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2pPr>
            <a:lvl3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3pPr>
            <a:lvl4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4pPr>
            <a:lvl5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5pPr>
            <a:lvl6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6pPr>
            <a:lvl7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7pPr>
            <a:lvl8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8pPr>
            <a:lvl9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32238"/>
                </a:solidFill>
                <a:latin typeface="Aptos"/>
                <a:ea typeface="Aptos"/>
                <a:cs typeface="Aptos"/>
              </a:rPr>
              <a:t>• Use the regression forecast as an initial workload estimate, not an exact staffing number.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32238"/>
                </a:solidFill>
                <a:latin typeface="Aptos"/>
                <a:ea typeface="Aptos"/>
                <a:cs typeface="Aptos"/>
              </a:rPr>
              <a:t>• Add multiple years, holidays, complaint categories, and weather variables.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32238"/>
                </a:solidFill>
                <a:latin typeface="Aptos"/>
                <a:ea typeface="Aptos"/>
                <a:cs typeface="Aptos"/>
              </a:rPr>
              <a:t>• Compare regression with time-series models such as exponential smoothing or ARIMA.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32238"/>
                </a:solidFill>
                <a:latin typeface="Aptos"/>
                <a:ea typeface="Aptos"/>
                <a:cs typeface="Aptos"/>
              </a:rPr>
              <a:t>• Add internal staffing and service data before making workforce-performance claims.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5E9B6087-B13B-49A6-A123-394614C9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defPPr>
            <a:lvl1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1pPr>
            <a:lvl2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2pPr>
            <a:lvl3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3pPr>
            <a:lvl4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4pPr>
            <a:lvl5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5pPr>
            <a:lvl6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6pPr>
            <a:lvl7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7pPr>
            <a:lvl8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8pPr>
            <a:lvl9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96A79"/>
                </a:solidFill>
                <a:latin typeface="Aptos"/>
                <a:ea typeface="Aptos"/>
                <a:cs typeface="Aptos"/>
              </a:rPr>
              <a:t>Forecasting guidance: Hyndman &amp; Athanasopoulos (2021); workforce-planning context: Koole &amp; Li (2023).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F06A79-0AF0-459E-847A-50E80FB4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229548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1FC9521-B7FF-49D6-870F-EC299EB2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PROFESSIONAL PORTFOLIO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3F4DAA-AABA-4FBB-97F1-ADBF0BD4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The project can become a clear, easy-to-review portfolio piece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48DE5-AABB-4A7F-8E35-A853ED1E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52E13-60CD-4B2D-8FF2-885F6B6F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621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GitHub repository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785A2-89A0-4FE0-A754-C4C0B905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defPPr>
            <a:lvl1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1pPr>
            <a:lvl2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2pPr>
            <a:lvl3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3pPr>
            <a:lvl4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4pPr>
            <a:lvl5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5pPr>
            <a:lvl6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6pPr>
            <a:lvl7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7pPr>
            <a:lvl8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8pPr>
            <a:lvl9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buNone/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132238"/>
                </a:solidFill>
                <a:latin typeface="Aptos"/>
                <a:ea typeface="Aptos"/>
                <a:cs typeface="Aptos"/>
              </a:rPr>
              <a:t>I would use GitHub to store the code, project files, and revision history. A short README would explain the problem, the data, how to run the analysis, and what the results mean.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E5986-64A9-44BA-9D37-EE953D4A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04950"/>
            <a:ext cx="5429250" cy="36195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92610-491F-41ED-B393-6BEE1DCD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85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E2A23A"/>
                </a:solidFill>
                <a:latin typeface="Consolas"/>
                <a:ea typeface="Consolas"/>
                <a:cs typeface="Consolas"/>
              </a:defRPr>
            </a:defPPr>
            <a:lvl1pPr>
              <a:defRPr sz="1650" b="1">
                <a:solidFill>
                  <a:srgbClr val="E2A23A"/>
                </a:solidFill>
                <a:latin typeface="Consolas"/>
                <a:ea typeface="Consolas"/>
                <a:cs typeface="Consolas"/>
              </a:defRPr>
            </a:lvl1pPr>
            <a:lvl2pPr>
              <a:defRPr sz="1650" b="1">
                <a:solidFill>
                  <a:srgbClr val="E2A23A"/>
                </a:solidFill>
                <a:latin typeface="Consolas"/>
                <a:ea typeface="Consolas"/>
                <a:cs typeface="Consolas"/>
              </a:defRPr>
            </a:lvl2pPr>
            <a:lvl3pPr>
              <a:defRPr sz="1650" b="1">
                <a:solidFill>
                  <a:srgbClr val="E2A23A"/>
                </a:solidFill>
                <a:latin typeface="Consolas"/>
                <a:ea typeface="Consolas"/>
                <a:cs typeface="Consolas"/>
              </a:defRPr>
            </a:lvl3pPr>
            <a:lvl4pPr>
              <a:defRPr sz="1650" b="1">
                <a:solidFill>
                  <a:srgbClr val="E2A23A"/>
                </a:solidFill>
                <a:latin typeface="Consolas"/>
                <a:ea typeface="Consolas"/>
                <a:cs typeface="Consolas"/>
              </a:defRPr>
            </a:lvl4pPr>
            <a:lvl5pPr>
              <a:defRPr sz="1650" b="1">
                <a:solidFill>
                  <a:srgbClr val="E2A23A"/>
                </a:solidFill>
                <a:latin typeface="Consolas"/>
                <a:ea typeface="Consolas"/>
                <a:cs typeface="Consolas"/>
              </a:defRPr>
            </a:lvl5pPr>
            <a:lvl6pPr>
              <a:defRPr sz="1650" b="1">
                <a:solidFill>
                  <a:srgbClr val="E2A23A"/>
                </a:solidFill>
                <a:latin typeface="Consolas"/>
                <a:ea typeface="Consolas"/>
                <a:cs typeface="Consolas"/>
              </a:defRPr>
            </a:lvl6pPr>
            <a:lvl7pPr>
              <a:defRPr sz="1650" b="1">
                <a:solidFill>
                  <a:srgbClr val="E2A23A"/>
                </a:solidFill>
                <a:latin typeface="Consolas"/>
                <a:ea typeface="Consolas"/>
                <a:cs typeface="Consolas"/>
              </a:defRPr>
            </a:lvl7pPr>
            <a:lvl8pPr>
              <a:defRPr sz="1650" b="1">
                <a:solidFill>
                  <a:srgbClr val="E2A23A"/>
                </a:solidFill>
                <a:latin typeface="Consolas"/>
                <a:ea typeface="Consolas"/>
                <a:cs typeface="Consolas"/>
              </a:defRPr>
            </a:lvl8pPr>
            <a:lvl9pPr>
              <a:defRPr sz="1650" b="1">
                <a:solidFill>
                  <a:srgbClr val="E2A23A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2A23A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E2A23A"/>
                </a:solidFill>
                <a:latin typeface="Consolas"/>
                <a:ea typeface="Consolas"/>
                <a:cs typeface="Consolas"/>
              </a:rPr>
              <a:t>nyc-311-demand-forecast/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2E6A2-8DE8-4A4D-8A12-7B762EA6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28875"/>
            <a:ext cx="4476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defPPr>
            <a:lvl1pPr>
              <a:defRPr sz="12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1pPr>
            <a:lvl2pPr>
              <a:defRPr sz="12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2pPr>
            <a:lvl3pPr>
              <a:defRPr sz="12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3pPr>
            <a:lvl4pPr>
              <a:defRPr sz="12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4pPr>
            <a:lvl5pPr>
              <a:defRPr sz="12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5pPr>
            <a:lvl6pPr>
              <a:defRPr sz="12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6pPr>
            <a:lvl7pPr>
              <a:defRPr sz="12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7pPr>
            <a:lvl8pPr>
              <a:defRPr sz="12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8pPr>
            <a:lvl9pPr>
              <a:defRPr sz="12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README.md          project overview and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code/              R script used for the analysis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visuals/           approved charts and model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docs/              final report and presentation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8000"/>
              </a:lnSpc>
              <a:buNone/>
              <a:defRPr sz="1275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data-source.md     official source link and filters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47576-3DE9-4D19-BA8C-0FA2978E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7670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596A79"/>
                </a:solidFill>
                <a:latin typeface="Aptos"/>
                <a:ea typeface="Aptos"/>
                <a:cs typeface="Aptos"/>
              </a:defRPr>
            </a:defPPr>
            <a:lvl1pPr>
              <a:defRPr sz="142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1pPr>
            <a:lvl2pPr>
              <a:defRPr sz="142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2pPr>
            <a:lvl3pPr>
              <a:defRPr sz="142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3pPr>
            <a:lvl4pPr>
              <a:defRPr sz="142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4pPr>
            <a:lvl5pPr>
              <a:defRPr sz="142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5pPr>
            <a:lvl6pPr>
              <a:defRPr sz="142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6pPr>
            <a:lvl7pPr>
              <a:defRPr sz="142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7pPr>
            <a:lvl8pPr>
              <a:defRPr sz="142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8pPr>
            <a:lvl9pPr>
              <a:defRPr sz="142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>
                <a:solidFill>
                  <a:srgbClr val="596A79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596A79"/>
                </a:solidFill>
                <a:latin typeface="Aptos"/>
                <a:ea typeface="Aptos"/>
                <a:cs typeface="Aptos"/>
              </a:rPr>
              <a:t>A LinkedIn profile or simple personal site could link to the repository and highlight the finished project.</a:t>
            </a:r>
          </a:p>
        </p:txBody>
      </p:sp>
      <p:sp>
        <p:nvSpPr>
          <p:cNvPr id="10" name="source">
            <a:extLst xmlns:a="http://schemas.openxmlformats.org/drawingml/2006/main">
              <a:ext uri="{FF2B5EF4-FFF2-40B4-BE49-F238E27FC236}">
                <a16:creationId xmlns:a16="http://schemas.microsoft.com/office/drawing/2014/main" id="{194EA4F9-4D4F-418B-B54A-AAC7CF05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defPPr>
            <a:lvl1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1pPr>
            <a:lvl2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2pPr>
            <a:lvl3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3pPr>
            <a:lvl4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4pPr>
            <a:lvl5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5pPr>
            <a:lvl6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6pPr>
            <a:lvl7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7pPr>
            <a:lvl8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8pPr>
            <a:lvl9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750">
                <a:solidFill>
                  <a:srgbClr val="596A79"/>
                </a:solidFill>
                <a:latin typeface="Aptos"/>
                <a:ea typeface="Aptos"/>
                <a:cs typeface="Aptos"/>
              </a:defRPr>
            </a:pPr>
            <a:r>
              <a:rPr sz="750">
                <a:solidFill>
                  <a:srgbClr val="596A79"/>
                </a:solidFill>
                <a:latin typeface="Aptos"/>
                <a:ea typeface="Aptos"/>
                <a:cs typeface="Aptos"/>
              </a:rPr>
              <a:t>GitHub Docs recommends a README to help visitors understand and navigate a repository.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EA18FC-EB67-4596-B33F-80AA95EE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505777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1B10C78-659B-425C-9288-77AE1088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PUBLIC PORTFOLIO PLAN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1595C4-B249-4ECD-A363-62D5FE65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Share the work without exposing private information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516B7-5BA2-4BB3-86BD-D0E57267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0A7A7-3B50-46AD-B3C4-08443FA8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Share publicly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B51AA-76FE-4523-ABEC-D88A1212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45243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defPPr>
            <a:lvl1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1pPr>
            <a:lvl2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2pPr>
            <a:lvl3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3pPr>
            <a:lvl4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4pPr>
            <a:lvl5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5pPr>
            <a:lvl6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6pPr>
            <a:lvl7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7pPr>
            <a:lvl8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8pPr>
            <a:lvl9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32238"/>
                </a:solidFill>
                <a:latin typeface="Aptos"/>
                <a:ea typeface="Aptos"/>
                <a:cs typeface="Aptos"/>
              </a:rPr>
              <a:t>• Clean R script with comments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32238"/>
                </a:solidFill>
                <a:latin typeface="Aptos"/>
                <a:ea typeface="Aptos"/>
                <a:cs typeface="Aptos"/>
              </a:rPr>
              <a:t>• README with the question, steps, and results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32238"/>
                </a:solidFill>
                <a:latin typeface="Aptos"/>
                <a:ea typeface="Aptos"/>
                <a:cs typeface="Aptos"/>
              </a:rPr>
              <a:t>• Final charts, report, and presentation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32238"/>
                </a:solidFill>
                <a:latin typeface="Aptos"/>
                <a:ea typeface="Aptos"/>
                <a:cs typeface="Aptos"/>
              </a:rPr>
              <a:t>• NYC OpenData source link and filter details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80833-20C5-468F-96AA-E72D0636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00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B4534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B4534B"/>
                </a:solidFill>
                <a:latin typeface="Aptos"/>
                <a:ea typeface="Aptos"/>
                <a:cs typeface="Aptos"/>
              </a:rPr>
              <a:t>Keep private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D50BC-1486-4EF0-8492-1BB9C117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47625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defPPr>
            <a:lvl1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1pPr>
            <a:lvl2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2pPr>
            <a:lvl3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3pPr>
            <a:lvl4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4pPr>
            <a:lvl5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5pPr>
            <a:lvl6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6pPr>
            <a:lvl7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7pPr>
            <a:lvl8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8pPr>
            <a:lvl9pPr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32238"/>
                </a:solidFill>
                <a:latin typeface="Aptos"/>
                <a:ea typeface="Aptos"/>
                <a:cs typeface="Aptos"/>
              </a:rPr>
              <a:t>• Passwords, tokens, or account details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32238"/>
                </a:solidFill>
                <a:latin typeface="Aptos"/>
                <a:ea typeface="Aptos"/>
                <a:cs typeface="Aptos"/>
              </a:rPr>
              <a:t>• Internal company or customer information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32238"/>
                </a:solidFill>
                <a:latin typeface="Aptos"/>
                <a:ea typeface="Aptos"/>
                <a:cs typeface="Aptos"/>
              </a:rPr>
              <a:t>• Personal contact details I do not want public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425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132238"/>
                </a:solidFill>
                <a:latin typeface="Aptos"/>
                <a:ea typeface="Aptos"/>
                <a:cs typeface="Aptos"/>
              </a:rPr>
              <a:t>• Unfinished drafts that could confuse the final 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91758-713A-4C65-B646-8740A1CD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57350"/>
            <a:ext cx="0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ED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70D84-058E-4699-B5AE-85A8713D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03060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E6ED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72CBB-BAD7-4CB1-810F-9F976CFA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Other portfolio items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E1195-5E25-4671-8132-47B9C120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9450"/>
          </a:bodyPr>
          <a:lstStyle xmlns:a="http://schemas.openxmlformats.org/drawingml/2006/main">
            <a:def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>
                <a:solidFill>
                  <a:srgbClr val="596A79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96A79"/>
                </a:solidFill>
                <a:latin typeface="Aptos"/>
                <a:ea typeface="Aptos"/>
                <a:cs typeface="Aptos"/>
              </a:rPr>
              <a:t>Résumé · short biography · call-center and workforce-planning experience · Data Analytics micro-credential · future analytics projects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F7B7E69-C5B8-44B8-BFE3-B3C200E6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99290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4B1C322-C3B9-4242-B66F-F53AACCF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4327D8-D27F-4532-BC1A-53FBAFDD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50608-EA6D-425D-9333-50C201CF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001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EDF2"/>
            </a:solidFill>
            <a:prstDash val="solid"/>
          </a:ln>
        </p:spPr>
      </p:sp>
      <p:sp>
        <p:nvSpPr>
          <p:cNvPr id="4" name="references">
            <a:extLst xmlns:a="http://schemas.openxmlformats.org/drawingml/2006/main">
              <a:ext uri="{FF2B5EF4-FFF2-40B4-BE49-F238E27FC236}">
                <a16:creationId xmlns:a16="http://schemas.microsoft.com/office/drawing/2014/main" id="{88A530C9-1DC6-4985-BBCF-73F36CD0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10382250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>
                <a:solidFill>
                  <a:srgbClr val="132238"/>
                </a:solidFill>
                <a:latin typeface="Aptos"/>
                <a:ea typeface="Aptos"/>
                <a:cs typeface="Aptos"/>
              </a:defRPr>
            </a:defPPr>
            <a:lvl1pPr>
              <a:defRPr sz="127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1pPr>
            <a:lvl2pPr>
              <a:defRPr sz="127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2pPr>
            <a:lvl3pPr>
              <a:defRPr sz="127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3pPr>
            <a:lvl4pPr>
              <a:defRPr sz="127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4pPr>
            <a:lvl5pPr>
              <a:defRPr sz="127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5pPr>
            <a:lvl6pPr>
              <a:defRPr sz="127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6pPr>
            <a:lvl7pPr>
              <a:defRPr sz="127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7pPr>
            <a:lvl8pPr>
              <a:defRPr sz="127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8pPr>
            <a:lvl9pPr>
              <a:defRPr sz="1275">
                <a:solidFill>
                  <a:srgbClr val="1322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lnSpc>
                <a:spcPct val="103000"/>
              </a:lnSpc>
              <a:buNone/>
              <a:defRPr sz="1275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32238"/>
                </a:solidFill>
                <a:latin typeface="Aptos"/>
                <a:ea typeface="Aptos"/>
                <a:cs typeface="Aptos"/>
              </a:rPr>
              <a:t>GitHub, Inc. (n.d.). About the repository README file. GitHub Docs. https://docs.github.com/en/repositories/managing-your-repositorys-settings-and-features/customizing-your-repository/about-readmes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75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32238"/>
                </a:solidFill>
                <a:latin typeface="Aptos"/>
                <a:ea typeface="Aptos"/>
                <a:cs typeface="Aptos"/>
              </a:rPr>
              <a:t>Hyndman, R. J., &amp; Athanasopoulos, G. (2021). Forecasting: Principles and practice (3rd ed.). OTexts. https://otexts.com/fpp3/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75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32238"/>
                </a:solidFill>
                <a:latin typeface="Aptos"/>
                <a:ea typeface="Aptos"/>
                <a:cs typeface="Aptos"/>
              </a:rPr>
              <a:t>Koole, G. M., &amp; Li, S. (2023). A practice-oriented overview of call center workforce planning. Stochastic Systems, 13(4), 479–495. https://doi.org/10.1287/stsy.2021.0008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75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32238"/>
                </a:solidFill>
                <a:latin typeface="Aptos"/>
                <a:ea typeface="Aptos"/>
                <a:cs typeface="Aptos"/>
              </a:rPr>
              <a:t>NYC OpenData. (n.d.). 311 service requests from 2020 to present [Data set]. Retrieved October 23, 2026, from https://data.cityofnewyork.us/d/erm2-nwe9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275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132238"/>
                </a:solidFill>
                <a:latin typeface="Aptos"/>
                <a:ea typeface="Aptos"/>
                <a:cs typeface="Aptos"/>
              </a:rPr>
              <a:t>R Core Team. (2025). R: A language and environment for statistical computing (Version 4.5.1) [Computer software]. R Foundation for Statistical Computing. https://www.R-project.org/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9503F9-A57E-4E2C-A74D-B4AECB11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defPPr>
            <a:lvl1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1pPr>
            <a:lvl2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2pPr>
            <a:lvl3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3pPr>
            <a:lvl4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4pPr>
            <a:lvl5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5pPr>
            <a:lvl6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6pPr>
            <a:lvl7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7pPr>
            <a:lvl8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8pPr>
            <a:lvl9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177E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7E8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37330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2026-10-27T14:09:02.5600000Z</dcterms:created>
  <dcterms:modified xsi:type="dcterms:W3CDTF">2026-10-27T14:09:02.5600000Z</dcterms:modified>
</coreProperties>
</file>